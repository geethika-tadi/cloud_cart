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943600" cy="5943600"/>
          </a:xfrm>
          <a:prstGeom prst="ellipse">
            <a:avLst/>
          </a:prstGeom>
          <a:ln w="25400">
            <a:solidFill>
              <a:srgbClr val="1C32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731520"/>
            <a:ext cx="4114800" cy="4114800"/>
          </a:xfrm>
          <a:prstGeom prst="ellipse">
            <a:avLst/>
          </a:prstGeom>
          <a:ln w="19050">
            <a:solidFill>
              <a:srgbClr val="17A6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331720"/>
            <a:ext cx="86868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CloudCart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85800" y="33375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D2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AWS-Based Mini E-Commerce Platform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4114800"/>
            <a:ext cx="457200" cy="54864"/>
          </a:xfrm>
          <a:prstGeom prst="rect">
            <a:avLst/>
          </a:prstGeom>
          <a:solidFill>
            <a:srgbClr val="17A66B"/>
          </a:solidFill>
        </p:spPr>
      </p:sp>
      <p:sp>
        <p:nvSpPr>
          <p:cNvPr id="7" name="Text 5"/>
          <p:cNvSpPr/>
          <p:nvPr/>
        </p:nvSpPr>
        <p:spPr>
          <a:xfrm>
            <a:off x="685800" y="425196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7A6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Browse. Add to cart. Deploy on the cloud.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612648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Project  |  EC2 · RDS · S3 · IAM · VPC</a:t>
            </a:r>
            <a:endParaRPr lang="en-US" sz="1200" dirty="0"/>
          </a:p>
        </p:txBody>
      </p:sp>
      <p:sp>
        <p:nvSpPr>
          <p:cNvPr id="9" name="Text Box 8"/>
          <p:cNvSpPr txBox="1"/>
          <p:nvPr/>
        </p:nvSpPr>
        <p:spPr>
          <a:xfrm>
            <a:off x="9159875" y="4552315"/>
            <a:ext cx="1927860" cy="1795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olidFill>
                  <a:schemeClr val="bg1"/>
                </a:solidFill>
              </a:rPr>
              <a:t>24p31a1201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24p31a1206</a:t>
            </a:r>
            <a:br>
              <a:rPr lang="en-US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24p31a1212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24p31a1224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24p31a1222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24p31a1243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24p31a1254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25p35a1205</a:t>
            </a: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F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67665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18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CloudCart is a full-stack mini e-commerce site — homepage, product catalog, user accounts, and a shopping cart — built end-to-end and deployed entirely on Amazon Web Services.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  <a:effectLst>
            <a:outerShdw blurRad="76200" dist="25400" dir="5400000" algn="bl" rotWithShape="0">
              <a:srgbClr val="1C326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834640"/>
            <a:ext cx="502920" cy="502920"/>
          </a:xfrm>
          <a:prstGeom prst="ellipse">
            <a:avLst/>
          </a:prstGeom>
          <a:solidFill>
            <a:srgbClr val="17A66B"/>
          </a:solidFill>
        </p:spPr>
      </p:sp>
      <p:sp>
        <p:nvSpPr>
          <p:cNvPr id="6" name="Text 4"/>
          <p:cNvSpPr/>
          <p:nvPr/>
        </p:nvSpPr>
        <p:spPr>
          <a:xfrm>
            <a:off x="914400" y="28346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770632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 &amp; Discover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3172968"/>
            <a:ext cx="4069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Category-filtered product catalog with detail pages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51460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  <a:effectLst>
            <a:outerShdw blurRad="76200" dist="25400" dir="5400000" algn="bl" rotWithShape="0">
              <a:srgbClr val="1C326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834640"/>
            <a:ext cx="502920" cy="502920"/>
          </a:xfrm>
          <a:prstGeom prst="ellipse">
            <a:avLst/>
          </a:prstGeom>
          <a:solidFill>
            <a:srgbClr val="17A66B"/>
          </a:solidFill>
        </p:spPr>
      </p:sp>
      <p:sp>
        <p:nvSpPr>
          <p:cNvPr id="11" name="Text 9"/>
          <p:cNvSpPr/>
          <p:nvPr/>
        </p:nvSpPr>
        <p:spPr>
          <a:xfrm>
            <a:off x="6492240" y="28346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2770632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an Account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78040" y="3172968"/>
            <a:ext cx="4069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signup and login with hashed passwords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  <a:effectLst>
            <a:outerShdw blurRad="76200" dist="25400" dir="5400000" algn="bl" rotWithShape="0">
              <a:srgbClr val="1C326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892040"/>
            <a:ext cx="502920" cy="502920"/>
          </a:xfrm>
          <a:prstGeom prst="ellipse">
            <a:avLst/>
          </a:prstGeom>
          <a:solidFill>
            <a:srgbClr val="17A66B"/>
          </a:solidFill>
        </p:spPr>
      </p:sp>
      <p:sp>
        <p:nvSpPr>
          <p:cNvPr id="16" name="Text 14"/>
          <p:cNvSpPr/>
          <p:nvPr/>
        </p:nvSpPr>
        <p:spPr>
          <a:xfrm>
            <a:off x="914400" y="48920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828032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Shop the Cart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5230368"/>
            <a:ext cx="4069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Add, update quantity, remove, and see live totals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457200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  <a:effectLst>
            <a:outerShdw blurRad="76200" dist="25400" dir="5400000" algn="bl" rotWithShape="0">
              <a:srgbClr val="1C326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892040"/>
            <a:ext cx="502920" cy="502920"/>
          </a:xfrm>
          <a:prstGeom prst="ellipse">
            <a:avLst/>
          </a:prstGeom>
          <a:solidFill>
            <a:srgbClr val="17A66B"/>
          </a:solidFill>
        </p:spPr>
      </p:sp>
      <p:sp>
        <p:nvSpPr>
          <p:cNvPr id="21" name="Text 19"/>
          <p:cNvSpPr/>
          <p:nvPr/>
        </p:nvSpPr>
        <p:spPr>
          <a:xfrm>
            <a:off x="6492240" y="48920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4828032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Cloud-Native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78040" y="5230368"/>
            <a:ext cx="4069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Hosted on EC2, data on RDS, images on S3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Team &amp; Module Distribution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8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members, each owning one layer of the stack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0F1F3D"/>
          </a:solidFill>
        </p:spPr>
      </p:sp>
      <p:sp>
        <p:nvSpPr>
          <p:cNvPr id="5" name="Text 3"/>
          <p:cNvSpPr/>
          <p:nvPr/>
        </p:nvSpPr>
        <p:spPr>
          <a:xfrm>
            <a:off x="777240" y="1618488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A6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167128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Homepage &amp; UI Design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044952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 · CSS · Bootstrap · JS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20440" y="150876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0F1F3D"/>
          </a:solidFill>
        </p:spPr>
      </p:sp>
      <p:sp>
        <p:nvSpPr>
          <p:cNvPr id="9" name="Text 7"/>
          <p:cNvSpPr/>
          <p:nvPr/>
        </p:nvSpPr>
        <p:spPr>
          <a:xfrm>
            <a:off x="3657600" y="1618488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A6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0" y="2167128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Catalog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3044952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 · CSS · JS · PHP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150876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0F1F3D"/>
          </a:solidFill>
        </p:spPr>
      </p:sp>
      <p:sp>
        <p:nvSpPr>
          <p:cNvPr id="13" name="Text 11"/>
          <p:cNvSpPr/>
          <p:nvPr/>
        </p:nvSpPr>
        <p:spPr>
          <a:xfrm>
            <a:off x="6537960" y="1618488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A6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37960" y="2167128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Authentication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3044952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PHP · MySQL · JS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281160" y="150876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0F1F3D"/>
          </a:solidFill>
        </p:spPr>
      </p:sp>
      <p:sp>
        <p:nvSpPr>
          <p:cNvPr id="17" name="Text 15"/>
          <p:cNvSpPr/>
          <p:nvPr/>
        </p:nvSpPr>
        <p:spPr>
          <a:xfrm>
            <a:off x="9418320" y="1618488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A6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418320" y="2167128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Shopping Cart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418320" y="3044952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 · PHP · MySQL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88620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1C3260"/>
          </a:solidFill>
        </p:spPr>
      </p:sp>
      <p:sp>
        <p:nvSpPr>
          <p:cNvPr id="21" name="Text 19"/>
          <p:cNvSpPr/>
          <p:nvPr/>
        </p:nvSpPr>
        <p:spPr>
          <a:xfrm>
            <a:off x="777240" y="3995928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A6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77240" y="4544568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5422392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· Amazon RDS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520440" y="388620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1C3260"/>
          </a:solidFill>
        </p:spPr>
      </p:sp>
      <p:sp>
        <p:nvSpPr>
          <p:cNvPr id="25" name="Text 23"/>
          <p:cNvSpPr/>
          <p:nvPr/>
        </p:nvSpPr>
        <p:spPr>
          <a:xfrm>
            <a:off x="3657600" y="3995928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A6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657600" y="4544568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EC2 Deployment &amp; Hosting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0" y="5422392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 EC2 · Linux · Apache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0" y="388620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1C3260"/>
          </a:solidFill>
        </p:spPr>
      </p:sp>
      <p:sp>
        <p:nvSpPr>
          <p:cNvPr id="29" name="Text 27"/>
          <p:cNvSpPr/>
          <p:nvPr/>
        </p:nvSpPr>
        <p:spPr>
          <a:xfrm>
            <a:off x="6537960" y="3995928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A6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M7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537960" y="4544568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S3 &amp; Cloud Storage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37960" y="5422392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 S3 · IAM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281160" y="388620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1C3260"/>
          </a:solidFill>
        </p:spPr>
      </p:sp>
      <p:sp>
        <p:nvSpPr>
          <p:cNvPr id="33" name="Text 31"/>
          <p:cNvSpPr/>
          <p:nvPr/>
        </p:nvSpPr>
        <p:spPr>
          <a:xfrm>
            <a:off x="9418320" y="3995928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A6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M8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418320" y="4544568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 &amp; Presentation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418320" y="5422392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QA · Docs · Slides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8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a shopper's request flows through the AWS stack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0" y="1828800"/>
            <a:ext cx="7498080" cy="4206240"/>
          </a:xfrm>
          <a:prstGeom prst="roundRect">
            <a:avLst>
              <a:gd name="adj" fmla="val 2174"/>
            </a:avLst>
          </a:prstGeom>
          <a:ln w="19050">
            <a:solidFill>
              <a:srgbClr val="1C326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291840" y="18745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2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VPC (Virtual Private Cloud)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6B7280"/>
          </a:solidFill>
          <a:effectLst>
            <a:outerShdw blurRad="63500" dist="25400" dir="5400000" algn="bl" rotWithShape="0">
              <a:srgbClr val="1C326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3505810"/>
            <a:ext cx="19202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Shopper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945636"/>
            <a:ext cx="19202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7DE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49040" y="237744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0F1F3D"/>
          </a:solidFill>
          <a:effectLst>
            <a:outerShdw blurRad="63500" dist="25400" dir="5400000" algn="bl" rotWithShape="0">
              <a:srgbClr val="1C326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49040" y="2624328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49040" y="313182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7DE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 + PHP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675120" y="237744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0F1F3D"/>
          </a:solidFill>
          <a:effectLst>
            <a:outerShdw blurRad="63500" dist="25400" dir="5400000" algn="bl" rotWithShape="0">
              <a:srgbClr val="1C326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2624328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0" y="313182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7DE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Database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509760" y="448056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128A57"/>
          </a:solidFill>
          <a:effectLst>
            <a:outerShdw blurRad="63500" dist="25400" dir="5400000" algn="bl" rotWithShape="0">
              <a:srgbClr val="1C326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509760" y="4694530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0" y="5134356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7DE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Images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49040" y="448056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1C3260"/>
          </a:solidFill>
          <a:effectLst>
            <a:outerShdw blurRad="63500" dist="25400" dir="5400000" algn="bl" rotWithShape="0">
              <a:srgbClr val="1C326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49040" y="4694530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IAM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49040" y="5134356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7DE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Policies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75120" y="4526280"/>
            <a:ext cx="237744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Group: only EC2 may reach RDS on port 3306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68880" y="3246120"/>
            <a:ext cx="1280160" cy="640080"/>
          </a:xfrm>
          <a:prstGeom prst="line">
            <a:avLst/>
          </a:prstGeom>
          <a:noFill/>
          <a:ln w="25400">
            <a:solidFill>
              <a:srgbClr val="17A66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35040" y="3063240"/>
            <a:ext cx="640080" cy="0"/>
          </a:xfrm>
          <a:prstGeom prst="line">
            <a:avLst/>
          </a:prstGeom>
          <a:noFill/>
          <a:ln w="25400">
            <a:solidFill>
              <a:srgbClr val="17A66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806440" y="3566160"/>
            <a:ext cx="3703320" cy="1280160"/>
          </a:xfrm>
          <a:prstGeom prst="line">
            <a:avLst/>
          </a:prstGeom>
          <a:noFill/>
          <a:ln w="25400">
            <a:solidFill>
              <a:srgbClr val="17A66B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743200" y="34290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26480" y="27432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AWS Services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C3260"/>
          </a:solidFill>
        </p:spPr>
      </p:sp>
      <p:sp>
        <p:nvSpPr>
          <p:cNvPr id="4" name="Shape 2"/>
          <p:cNvSpPr/>
          <p:nvPr/>
        </p:nvSpPr>
        <p:spPr>
          <a:xfrm>
            <a:off x="868680" y="1572768"/>
            <a:ext cx="457200" cy="457200"/>
          </a:xfrm>
          <a:prstGeom prst="ellipse">
            <a:avLst/>
          </a:prstGeom>
          <a:solidFill>
            <a:srgbClr val="17A66B"/>
          </a:solidFill>
        </p:spPr>
      </p:sp>
      <p:sp>
        <p:nvSpPr>
          <p:cNvPr id="5" name="Text 3"/>
          <p:cNvSpPr/>
          <p:nvPr/>
        </p:nvSpPr>
        <p:spPr>
          <a:xfrm>
            <a:off x="868680" y="15727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00200" y="1417320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80560" y="1417320"/>
            <a:ext cx="6766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2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Hosts the web application (Apache + PHP)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C3260"/>
          </a:solidFill>
        </p:spPr>
      </p:sp>
      <p:sp>
        <p:nvSpPr>
          <p:cNvPr id="9" name="Shape 7"/>
          <p:cNvSpPr/>
          <p:nvPr/>
        </p:nvSpPr>
        <p:spPr>
          <a:xfrm>
            <a:off x="868680" y="2532888"/>
            <a:ext cx="457200" cy="457200"/>
          </a:xfrm>
          <a:prstGeom prst="ellipse">
            <a:avLst/>
          </a:prstGeom>
          <a:solidFill>
            <a:srgbClr val="17A66B"/>
          </a:solidFill>
        </p:spPr>
      </p:sp>
      <p:sp>
        <p:nvSpPr>
          <p:cNvPr id="10" name="Text 8"/>
          <p:cNvSpPr/>
          <p:nvPr/>
        </p:nvSpPr>
        <p:spPr>
          <a:xfrm>
            <a:off x="868680" y="25328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2377440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RDS (MySQL)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2377440"/>
            <a:ext cx="6766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2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Managed relational database for users, products, cart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C3260"/>
          </a:solidFill>
        </p:spPr>
      </p:sp>
      <p:sp>
        <p:nvSpPr>
          <p:cNvPr id="14" name="Shape 12"/>
          <p:cNvSpPr/>
          <p:nvPr/>
        </p:nvSpPr>
        <p:spPr>
          <a:xfrm>
            <a:off x="868680" y="3493008"/>
            <a:ext cx="457200" cy="457200"/>
          </a:xfrm>
          <a:prstGeom prst="ellipse">
            <a:avLst/>
          </a:prstGeom>
          <a:solidFill>
            <a:srgbClr val="17A66B"/>
          </a:solidFill>
        </p:spPr>
      </p:sp>
      <p:sp>
        <p:nvSpPr>
          <p:cNvPr id="15" name="Text 13"/>
          <p:cNvSpPr/>
          <p:nvPr/>
        </p:nvSpPr>
        <p:spPr>
          <a:xfrm>
            <a:off x="868680" y="349300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3337560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80560" y="3337560"/>
            <a:ext cx="6766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2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Stores and serves product images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2976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C3260"/>
          </a:solidFill>
        </p:spPr>
      </p:sp>
      <p:sp>
        <p:nvSpPr>
          <p:cNvPr id="19" name="Shape 17"/>
          <p:cNvSpPr/>
          <p:nvPr/>
        </p:nvSpPr>
        <p:spPr>
          <a:xfrm>
            <a:off x="868680" y="4453128"/>
            <a:ext cx="457200" cy="457200"/>
          </a:xfrm>
          <a:prstGeom prst="ellipse">
            <a:avLst/>
          </a:prstGeom>
          <a:solidFill>
            <a:srgbClr val="17A66B"/>
          </a:solidFill>
        </p:spPr>
      </p:sp>
      <p:sp>
        <p:nvSpPr>
          <p:cNvPr id="20" name="Text 18"/>
          <p:cNvSpPr/>
          <p:nvPr/>
        </p:nvSpPr>
        <p:spPr>
          <a:xfrm>
            <a:off x="868680" y="44531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4297680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IAM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80560" y="4297680"/>
            <a:ext cx="6766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2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Scoped access policies for bucket &amp; resources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2578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C3260"/>
          </a:solidFill>
        </p:spPr>
      </p:sp>
      <p:sp>
        <p:nvSpPr>
          <p:cNvPr id="24" name="Shape 22"/>
          <p:cNvSpPr/>
          <p:nvPr/>
        </p:nvSpPr>
        <p:spPr>
          <a:xfrm>
            <a:off x="868680" y="5413248"/>
            <a:ext cx="457200" cy="457200"/>
          </a:xfrm>
          <a:prstGeom prst="ellipse">
            <a:avLst/>
          </a:prstGeom>
          <a:solidFill>
            <a:srgbClr val="17A66B"/>
          </a:solidFill>
        </p:spPr>
      </p:sp>
      <p:sp>
        <p:nvSpPr>
          <p:cNvPr id="25" name="Text 23"/>
          <p:cNvSpPr/>
          <p:nvPr/>
        </p:nvSpPr>
        <p:spPr>
          <a:xfrm>
            <a:off x="868680" y="54132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00200" y="5257800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VPC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80560" y="5257800"/>
            <a:ext cx="6766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2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isolation and security-group rules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 Stack by Layer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3152" cy="1005840"/>
          </a:xfrm>
          <a:prstGeom prst="rect">
            <a:avLst/>
          </a:prstGeom>
          <a:solidFill>
            <a:srgbClr val="17A66B"/>
          </a:solidFill>
        </p:spPr>
      </p:sp>
      <p:sp>
        <p:nvSpPr>
          <p:cNvPr id="4" name="Text 2"/>
          <p:cNvSpPr/>
          <p:nvPr/>
        </p:nvSpPr>
        <p:spPr>
          <a:xfrm>
            <a:off x="914400" y="137160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83280" y="1371600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8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 · CSS · Bootstrap · JavaScript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040880" y="1371600"/>
            <a:ext cx="44805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Responsive homepage, navigation, product grid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73152" cy="1005840"/>
          </a:xfrm>
          <a:prstGeom prst="rect">
            <a:avLst/>
          </a:prstGeom>
          <a:solidFill>
            <a:srgbClr val="17A66B"/>
          </a:solidFill>
        </p:spPr>
      </p:sp>
      <p:sp>
        <p:nvSpPr>
          <p:cNvPr id="8" name="Text 6"/>
          <p:cNvSpPr/>
          <p:nvPr/>
        </p:nvSpPr>
        <p:spPr>
          <a:xfrm>
            <a:off x="914400" y="260604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83280" y="2606040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8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0" y="2606040"/>
            <a:ext cx="44805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 auth, cart logic, server-side rendering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73152" cy="1005840"/>
          </a:xfrm>
          <a:prstGeom prst="rect">
            <a:avLst/>
          </a:prstGeom>
          <a:solidFill>
            <a:srgbClr val="17A66B"/>
          </a:solidFill>
        </p:spPr>
      </p:sp>
      <p:sp>
        <p:nvSpPr>
          <p:cNvPr id="12" name="Text 10"/>
          <p:cNvSpPr/>
          <p:nvPr/>
        </p:nvSpPr>
        <p:spPr>
          <a:xfrm>
            <a:off x="914400" y="384048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3840480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8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on Amazon RDS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40880" y="3840480"/>
            <a:ext cx="44805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Users, categories, products, cart tables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074920"/>
            <a:ext cx="73152" cy="1005840"/>
          </a:xfrm>
          <a:prstGeom prst="rect">
            <a:avLst/>
          </a:prstGeom>
          <a:solidFill>
            <a:srgbClr val="17A66B"/>
          </a:solidFill>
        </p:spPr>
      </p:sp>
      <p:sp>
        <p:nvSpPr>
          <p:cNvPr id="16" name="Text 14"/>
          <p:cNvSpPr/>
          <p:nvPr/>
        </p:nvSpPr>
        <p:spPr>
          <a:xfrm>
            <a:off x="914400" y="507492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Infra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83280" y="5074920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8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EC2 · S3 · IAM · VPC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40880" y="5074920"/>
            <a:ext cx="44805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Hosting, image storage, access control, isolation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Security &amp; Best Practices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  <a:effectLst>
            <a:outerShdw blurRad="76200" dist="25400" dir="5400000" algn="bl" rotWithShape="0">
              <a:srgbClr val="1C326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737360"/>
            <a:ext cx="502920" cy="502920"/>
          </a:xfrm>
          <a:prstGeom prst="ellipse">
            <a:avLst/>
          </a:prstGeom>
          <a:solidFill>
            <a:srgbClr val="17A66B"/>
          </a:solidFill>
        </p:spPr>
      </p:sp>
      <p:sp>
        <p:nvSpPr>
          <p:cNvPr id="5" name="Text 3"/>
          <p:cNvSpPr/>
          <p:nvPr/>
        </p:nvSpPr>
        <p:spPr>
          <a:xfrm>
            <a:off x="914400" y="1737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1691640"/>
            <a:ext cx="4069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Least-privilege IAM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148840"/>
            <a:ext cx="40690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S3 bucket policy grants only read access to product images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  <a:effectLst>
            <a:outerShdw blurRad="76200" dist="25400" dir="5400000" algn="bl" rotWithShape="0">
              <a:srgbClr val="1C326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737360"/>
            <a:ext cx="502920" cy="502920"/>
          </a:xfrm>
          <a:prstGeom prst="ellipse">
            <a:avLst/>
          </a:prstGeom>
          <a:solidFill>
            <a:srgbClr val="17A66B"/>
          </a:solidFill>
        </p:spPr>
      </p:sp>
      <p:sp>
        <p:nvSpPr>
          <p:cNvPr id="10" name="Text 8"/>
          <p:cNvSpPr/>
          <p:nvPr/>
        </p:nvSpPr>
        <p:spPr>
          <a:xfrm>
            <a:off x="6492240" y="1737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178040" y="1691640"/>
            <a:ext cx="4069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Private database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78040" y="2148840"/>
            <a:ext cx="40690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RDS has no public access — only EC2's security group may connect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  <a:effectLst>
            <a:outerShdw blurRad="76200" dist="25400" dir="5400000" algn="bl" rotWithShape="0">
              <a:srgbClr val="1C326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4160520"/>
            <a:ext cx="502920" cy="502920"/>
          </a:xfrm>
          <a:prstGeom prst="ellipse">
            <a:avLst/>
          </a:prstGeom>
          <a:solidFill>
            <a:srgbClr val="17A66B"/>
          </a:solidFill>
        </p:spPr>
      </p:sp>
      <p:sp>
        <p:nvSpPr>
          <p:cNvPr id="15" name="Text 13"/>
          <p:cNvSpPr/>
          <p:nvPr/>
        </p:nvSpPr>
        <p:spPr>
          <a:xfrm>
            <a:off x="914400" y="41605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00200" y="4114800"/>
            <a:ext cx="4069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Hashed passwords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572000"/>
            <a:ext cx="40690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passwords stored with bcrypt, never in plain text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8862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  <a:effectLst>
            <a:outerShdw blurRad="76200" dist="25400" dir="5400000" algn="bl" rotWithShape="0">
              <a:srgbClr val="1C326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4160520"/>
            <a:ext cx="502920" cy="502920"/>
          </a:xfrm>
          <a:prstGeom prst="ellipse">
            <a:avLst/>
          </a:prstGeom>
          <a:solidFill>
            <a:srgbClr val="17A66B"/>
          </a:solidFill>
        </p:spPr>
      </p:sp>
      <p:sp>
        <p:nvSpPr>
          <p:cNvPr id="20" name="Text 18"/>
          <p:cNvSpPr/>
          <p:nvPr/>
        </p:nvSpPr>
        <p:spPr>
          <a:xfrm>
            <a:off x="6492240" y="41605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178040" y="4114800"/>
            <a:ext cx="4069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Prepared statements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78040" y="4572000"/>
            <a:ext cx="40690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database queries use parameterized PDO statements to prevent SQL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Challenges &amp; Learnings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17A66B"/>
          </a:solidFill>
        </p:spPr>
      </p:sp>
      <p:sp>
        <p:nvSpPr>
          <p:cNvPr id="4" name="Text 2"/>
          <p:cNvSpPr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17320" y="150876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A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Coordinating 8 parallel modules required a shared schema contract early 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606040"/>
            <a:ext cx="457200" cy="457200"/>
          </a:xfrm>
          <a:prstGeom prst="ellipse">
            <a:avLst/>
          </a:prstGeom>
          <a:solidFill>
            <a:srgbClr val="17A66B"/>
          </a:solidFill>
        </p:spPr>
      </p:sp>
      <p:sp>
        <p:nvSpPr>
          <p:cNvPr id="7" name="Text 5"/>
          <p:cNvSpPr/>
          <p:nvPr/>
        </p:nvSpPr>
        <p:spPr>
          <a:xfrm>
            <a:off x="731520" y="2606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56032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A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Apache's DocumentRoot had to point at the public/ folder, not the project root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rgbClr val="17A66B"/>
          </a:solidFill>
        </p:spPr>
      </p:sp>
      <p:sp>
        <p:nvSpPr>
          <p:cNvPr id="10" name="Text 8"/>
          <p:cNvSpPr/>
          <p:nvPr/>
        </p:nvSpPr>
        <p:spPr>
          <a:xfrm>
            <a:off x="731520" y="3657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61188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A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RDS security groups must explicitly allow inbound traffic from the EC2 instance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709160"/>
            <a:ext cx="457200" cy="457200"/>
          </a:xfrm>
          <a:prstGeom prst="ellipse">
            <a:avLst/>
          </a:prstGeom>
          <a:solidFill>
            <a:srgbClr val="17A66B"/>
          </a:solidFill>
        </p:spPr>
      </p:sp>
      <p:sp>
        <p:nvSpPr>
          <p:cNvPr id="13" name="Text 11"/>
          <p:cNvSpPr/>
          <p:nvPr/>
        </p:nvSpPr>
        <p:spPr>
          <a:xfrm>
            <a:off x="731520" y="47091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46634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A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S3 objects need an explicit bucket policy before images load publicly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Expected Outcome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0F1F3D"/>
          </a:solidFill>
        </p:spPr>
      </p:sp>
      <p:sp>
        <p:nvSpPr>
          <p:cNvPr id="4" name="Text 2"/>
          <p:cNvSpPr/>
          <p:nvPr/>
        </p:nvSpPr>
        <p:spPr>
          <a:xfrm>
            <a:off x="868680" y="1554480"/>
            <a:ext cx="30632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Full-stack web development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389120" y="15544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0F1F3D"/>
          </a:solidFill>
        </p:spPr>
      </p:sp>
      <p:sp>
        <p:nvSpPr>
          <p:cNvPr id="6" name="Text 4"/>
          <p:cNvSpPr/>
          <p:nvPr/>
        </p:nvSpPr>
        <p:spPr>
          <a:xfrm>
            <a:off x="4617720" y="1554480"/>
            <a:ext cx="30632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 cloud deployment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38160" y="15544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0F1F3D"/>
          </a:solidFill>
        </p:spPr>
      </p:sp>
      <p:sp>
        <p:nvSpPr>
          <p:cNvPr id="8" name="Text 6"/>
          <p:cNvSpPr/>
          <p:nvPr/>
        </p:nvSpPr>
        <p:spPr>
          <a:xfrm>
            <a:off x="8366760" y="1554480"/>
            <a:ext cx="30632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integration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28A57"/>
          </a:solidFill>
        </p:spPr>
      </p:sp>
      <p:sp>
        <p:nvSpPr>
          <p:cNvPr id="10" name="Text 8"/>
          <p:cNvSpPr/>
          <p:nvPr/>
        </p:nvSpPr>
        <p:spPr>
          <a:xfrm>
            <a:off x="868680" y="3383280"/>
            <a:ext cx="30632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storage management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33832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28A57"/>
          </a:solidFill>
        </p:spPr>
      </p:sp>
      <p:sp>
        <p:nvSpPr>
          <p:cNvPr id="12" name="Text 10"/>
          <p:cNvSpPr/>
          <p:nvPr/>
        </p:nvSpPr>
        <p:spPr>
          <a:xfrm>
            <a:off x="4617720" y="3383280"/>
            <a:ext cx="30632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collaboration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33832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28A57"/>
          </a:solidFill>
        </p:spPr>
      </p:sp>
      <p:sp>
        <p:nvSpPr>
          <p:cNvPr id="14" name="Text 12"/>
          <p:cNvSpPr/>
          <p:nvPr/>
        </p:nvSpPr>
        <p:spPr>
          <a:xfrm>
            <a:off x="8366760" y="3383280"/>
            <a:ext cx="30632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e-commerce workflow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ln w="25400">
            <a:solidFill>
              <a:srgbClr val="1C32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754880"/>
            <a:ext cx="3657600" cy="3657600"/>
          </a:xfrm>
          <a:prstGeom prst="ellipse">
            <a:avLst/>
          </a:prstGeom>
          <a:ln w="19050">
            <a:solidFill>
              <a:srgbClr val="17A6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246888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13232" y="34290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2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CloudCart — questions &amp; live demo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13232" y="4023360"/>
            <a:ext cx="457200" cy="54864"/>
          </a:xfrm>
          <a:prstGeom prst="rect">
            <a:avLst/>
          </a:prstGeom>
          <a:solidFill>
            <a:srgbClr val="17A66B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2709</Words>
  <Application>WPS Presentation</Application>
  <PresentationFormat>On-screen Show (16:9)</PresentationFormat>
  <Paragraphs>248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WPS_1718198696</cp:lastModifiedBy>
  <cp:revision>2</cp:revision>
  <dcterms:created xsi:type="dcterms:W3CDTF">2026-07-14T01:07:00Z</dcterms:created>
  <dcterms:modified xsi:type="dcterms:W3CDTF">2026-07-14T15:24:05Z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C613306DF4B74D18A65438B811E70119_12</vt:lpwstr>
  </property>
</Properties>
</file>